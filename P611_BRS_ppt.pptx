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1" r:id="rId9"/>
    <p:sldId id="270" r:id="rId10"/>
    <p:sldId id="264" r:id="rId11"/>
    <p:sldId id="265" r:id="rId12"/>
    <p:sldId id="266" r:id="rId13"/>
    <p:sldId id="272" r:id="rId14"/>
    <p:sldId id="267" r:id="rId15"/>
    <p:sldId id="271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F9237-46F5-F170-5A5E-11380E28B9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IN" dirty="0"/>
              <a:t>Project Presentation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0E5948-2885-5230-FD09-3A94139D09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IN" dirty="0"/>
              <a:t>P611 - Book Recommendation System</a:t>
            </a:r>
          </a:p>
          <a:p>
            <a:pPr algn="l"/>
            <a:r>
              <a:rPr lang="en-IN" dirty="0"/>
              <a:t>Presented By Group - 6 </a:t>
            </a:r>
          </a:p>
        </p:txBody>
      </p:sp>
    </p:spTree>
    <p:extLst>
      <p:ext uri="{BB962C8B-B14F-4D97-AF65-F5344CB8AC3E}">
        <p14:creationId xmlns:p14="http://schemas.microsoft.com/office/powerpoint/2010/main" val="241001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3B90-8199-E780-9DDA-E2A83E4F0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3974C-DD2F-92FB-AB2C-7CA637309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782" y="2065867"/>
            <a:ext cx="10131425" cy="2362200"/>
          </a:xfrm>
        </p:spPr>
        <p:txBody>
          <a:bodyPr/>
          <a:lstStyle/>
          <a:p>
            <a:r>
              <a:rPr lang="en-US" dirty="0"/>
              <a:t>To build a book recommendation system that suggests books to users based on similarities in book popularity, user </a:t>
            </a:r>
            <a:r>
              <a:rPr lang="en-US" dirty="0" err="1"/>
              <a:t>behaviour</a:t>
            </a:r>
            <a:r>
              <a:rPr lang="en-US" dirty="0"/>
              <a:t>, and rating patterns.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1051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2D1B0-CC79-9D04-4B4B-F858FB5C6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09600"/>
            <a:ext cx="4692444" cy="1456267"/>
          </a:xfrm>
        </p:spPr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90B24F-B703-D97A-2B8F-AEE36F0968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4437" y="1750589"/>
            <a:ext cx="500707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recommend relevant books to users based on their reading preferences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leverage user ratings and book popularity to generate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recommendations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user experience by suggesting books similar to those users have read or liked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F9406E-E2A7-2B70-2BE8-5213B2A815E3}"/>
              </a:ext>
            </a:extLst>
          </p:cNvPr>
          <p:cNvSpPr txBox="1"/>
          <p:nvPr/>
        </p:nvSpPr>
        <p:spPr>
          <a:xfrm>
            <a:off x="6683866" y="1524518"/>
            <a:ext cx="514227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Explore Books, rating and Users datasets and extract meaningful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EDA and Feature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Model Selection, Model Building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Summary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0287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FE98D-92E2-0032-70E4-66F7F5891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52284"/>
            <a:ext cx="10131425" cy="1456267"/>
          </a:xfrm>
        </p:spPr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7E69A-9689-5372-4D13-1F4503114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369"/>
            <a:ext cx="10131425" cy="3649133"/>
          </a:xfrm>
        </p:spPr>
        <p:txBody>
          <a:bodyPr>
            <a:noAutofit/>
          </a:bodyPr>
          <a:lstStyle/>
          <a:p>
            <a:r>
              <a:rPr lang="en-IN" dirty="0"/>
              <a:t>Books Dataset </a:t>
            </a:r>
          </a:p>
          <a:p>
            <a:r>
              <a:rPr lang="en-IN" dirty="0"/>
              <a:t>Users Dataset</a:t>
            </a:r>
          </a:p>
          <a:p>
            <a:r>
              <a:rPr lang="en-IN" dirty="0"/>
              <a:t>Rating dataset </a:t>
            </a:r>
          </a:p>
          <a:p>
            <a:r>
              <a:rPr lang="en-IN" dirty="0"/>
              <a:t> The Dataset Contains information such as : </a:t>
            </a:r>
          </a:p>
          <a:p>
            <a:pPr marL="0" indent="0">
              <a:buNone/>
            </a:pPr>
            <a:r>
              <a:rPr lang="en-US" dirty="0"/>
              <a:t>User-ID, Location, Age, ISBN, Book Title, Book Author, Publisher, Year of Publication, Book Rating, </a:t>
            </a:r>
            <a:r>
              <a:rPr lang="en-IN" dirty="0"/>
              <a:t>Image-URL-M 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8936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5D597-74CC-DA43-ABD9-084CF2947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0AD8E-1655-0D80-7F22-41F785DFA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Merged Users, Books, and Ratings datasets, resulting in </a:t>
            </a:r>
            <a:r>
              <a:rPr lang="en-US" b="1" dirty="0"/>
              <a:t>1,031,136 rows and 12 columns</a:t>
            </a:r>
            <a:endParaRPr lang="en-US" dirty="0"/>
          </a:p>
          <a:p>
            <a:r>
              <a:rPr lang="en-US" dirty="0"/>
              <a:t>Performed data quality checks, including </a:t>
            </a:r>
            <a:r>
              <a:rPr lang="en-US" b="1" dirty="0"/>
              <a:t>duplicate detection</a:t>
            </a:r>
            <a:r>
              <a:rPr lang="en-US" dirty="0"/>
              <a:t> and </a:t>
            </a:r>
            <a:r>
              <a:rPr lang="en-US" b="1" dirty="0"/>
              <a:t>missing value analysis</a:t>
            </a:r>
            <a:endParaRPr lang="en-US" dirty="0"/>
          </a:p>
          <a:p>
            <a:r>
              <a:rPr lang="en-US" dirty="0"/>
              <a:t>Handled missing values by filling </a:t>
            </a:r>
            <a:r>
              <a:rPr lang="en-US" b="1" dirty="0"/>
              <a:t>Age with the median</a:t>
            </a:r>
            <a:r>
              <a:rPr lang="en-US" dirty="0"/>
              <a:t> and replacing missing authors/publishers with “Unknown”</a:t>
            </a:r>
          </a:p>
          <a:p>
            <a:r>
              <a:rPr lang="en-US" dirty="0"/>
              <a:t>Detected age outliers using boxplots and restricted the age range to </a:t>
            </a:r>
            <a:r>
              <a:rPr lang="en-US" b="1" dirty="0"/>
              <a:t>5–90 years</a:t>
            </a:r>
            <a:r>
              <a:rPr lang="en-US" dirty="0"/>
              <a:t> for realistic user profiles</a:t>
            </a:r>
          </a:p>
          <a:p>
            <a:r>
              <a:rPr lang="en-US" dirty="0"/>
              <a:t> </a:t>
            </a:r>
            <a:r>
              <a:rPr lang="en-US" dirty="0" err="1"/>
              <a:t>Visualised</a:t>
            </a:r>
            <a:r>
              <a:rPr lang="en-US" dirty="0"/>
              <a:t> data using </a:t>
            </a:r>
            <a:r>
              <a:rPr lang="en-US" b="1" dirty="0"/>
              <a:t>bar plots and box plots</a:t>
            </a:r>
            <a:r>
              <a:rPr lang="en-US" dirty="0"/>
              <a:t> to </a:t>
            </a:r>
            <a:r>
              <a:rPr lang="en-US" dirty="0" err="1"/>
              <a:t>analyse</a:t>
            </a:r>
            <a:r>
              <a:rPr lang="en-US" dirty="0"/>
              <a:t> rating distribution, popular books, active users, and age vs ratings, most rated book &amp; authors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3621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6AAA7-C98C-1BFE-9D01-DEDFBF927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 descr="A graph of a book rating&#10;&#10;AI-generated content may be incorrect.">
            <a:extLst>
              <a:ext uri="{FF2B5EF4-FFF2-40B4-BE49-F238E27FC236}">
                <a16:creationId xmlns:a16="http://schemas.microsoft.com/office/drawing/2014/main" id="{B6D99283-488B-3598-3253-9970944361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753324" cy="3500282"/>
          </a:xfrm>
          <a:prstGeom prst="rect">
            <a:avLst/>
          </a:prstGeom>
        </p:spPr>
      </p:pic>
      <p:pic>
        <p:nvPicPr>
          <p:cNvPr id="7" name="Picture 6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62E8FAA6-49FA-23C8-3FA6-5FA500936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00282"/>
            <a:ext cx="5753325" cy="3467051"/>
          </a:xfrm>
          <a:prstGeom prst="rect">
            <a:avLst/>
          </a:prstGeom>
        </p:spPr>
      </p:pic>
      <p:pic>
        <p:nvPicPr>
          <p:cNvPr id="11" name="Picture 10" descr="A graph of pink bars&#10;&#10;AI-generated content may be incorrect.">
            <a:extLst>
              <a:ext uri="{FF2B5EF4-FFF2-40B4-BE49-F238E27FC236}">
                <a16:creationId xmlns:a16="http://schemas.microsoft.com/office/drawing/2014/main" id="{A25B5E2F-FE89-D728-A372-1F528919FD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513" y="1"/>
            <a:ext cx="6440487" cy="3500282"/>
          </a:xfrm>
          <a:prstGeom prst="rect">
            <a:avLst/>
          </a:prstGeom>
        </p:spPr>
      </p:pic>
      <p:pic>
        <p:nvPicPr>
          <p:cNvPr id="13" name="Picture 12" descr="A graph of red and white bars&#10;&#10;AI-generated content may be incorrect.">
            <a:extLst>
              <a:ext uri="{FF2B5EF4-FFF2-40B4-BE49-F238E27FC236}">
                <a16:creationId xmlns:a16="http://schemas.microsoft.com/office/drawing/2014/main" id="{98317111-891C-472B-8A6B-0F21550E9B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1513" y="3500282"/>
            <a:ext cx="6519145" cy="350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833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583A5-2FD0-D9D4-80A6-4C22C23DC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330" y="570271"/>
            <a:ext cx="10131425" cy="1456267"/>
          </a:xfrm>
        </p:spPr>
        <p:txBody>
          <a:bodyPr/>
          <a:lstStyle/>
          <a:p>
            <a:r>
              <a:rPr lang="en-IN" dirty="0"/>
              <a:t>Feature Engineering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045356-D0A0-5AF7-373C-15BC22312C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0330" y="2239667"/>
            <a:ext cx="11307070" cy="349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Selected important features required for recommendation, such as User-ID, ISBN, Book details, Age, and Location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Converted Year-Of-Publication to numeric format and handled missing values using median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Extracted City, State, and Country from Location to enhance user demographic information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Encoded categorical variables using Label Encoding to make the data model-ready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Filtered sparse users and books by keeping only those with a minimum number of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interactions to reduce noise and improve recommendation reliability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Created a User–Item Matrix (Pivot Table) and converted it into a sparse matrix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 to efficiently store user-book interactions and </a:t>
            </a:r>
            <a:r>
              <a:rPr lang="en-US" altLang="en-US" sz="1700" dirty="0" err="1">
                <a:latin typeface="Arial" panose="020B0604020202020204" pitchFamily="34" charset="0"/>
              </a:rPr>
              <a:t>optimise</a:t>
            </a:r>
            <a:r>
              <a:rPr lang="en-US" altLang="en-US" sz="1700" dirty="0">
                <a:latin typeface="Arial" panose="020B0604020202020204" pitchFamily="34" charset="0"/>
              </a:rPr>
              <a:t> memory usage</a:t>
            </a:r>
            <a:endParaRPr kumimoji="0" lang="en-US" altLang="en-US" sz="17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969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A27FD-0B1C-F67E-240F-768735881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78084-F294-2CB4-D1D8-932EDB418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Chose an Unsupervised Learning approach since no labeled output is available</a:t>
            </a:r>
          </a:p>
          <a:p>
            <a:r>
              <a:rPr lang="en-US" dirty="0"/>
              <a:t>Implemented a Popularity-Based Recommendation Model to suggest trending books</a:t>
            </a:r>
          </a:p>
          <a:p>
            <a:r>
              <a:rPr lang="en-US" dirty="0"/>
              <a:t>Built a Collaborative Filtering model using user–item interactions</a:t>
            </a:r>
          </a:p>
          <a:p>
            <a:r>
              <a:rPr lang="en-US" dirty="0"/>
              <a:t>Applied Cosine Similarity to measure similarity between books based on user ratings</a:t>
            </a:r>
          </a:p>
          <a:p>
            <a:r>
              <a:rPr lang="en-US" dirty="0"/>
              <a:t>Selected this approach due to its effectiveness in handling sparse data and scalability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1522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8D79-CFA4-D302-6768-1B1515E50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Building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94DE1-DABA-DFAC-BE47-468562F9A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 a Cosine Similarity between books to identify similar items</a:t>
            </a:r>
          </a:p>
          <a:p>
            <a:r>
              <a:rPr lang="en-US" dirty="0"/>
              <a:t>Generated  Popularity-Based Model to recommend the most frequently rated books</a:t>
            </a:r>
          </a:p>
          <a:p>
            <a:r>
              <a:rPr lang="en-US" dirty="0"/>
              <a:t>Constructed a User–Item Matrix using pivot tables to represent user-book interactions</a:t>
            </a:r>
          </a:p>
          <a:p>
            <a:r>
              <a:rPr lang="en-US" dirty="0"/>
              <a:t>Converted the matrix into a Sparse Matrix to handle large and sparse data efficiently</a:t>
            </a:r>
          </a:p>
          <a:p>
            <a:r>
              <a:rPr lang="en-US" dirty="0"/>
              <a:t>Computed book recommendations by selecting top similar books for a given input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5791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9D3FC-1746-53D3-4DD0-D43751646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Popularity Based Recommender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96E54-D641-6F25-7631-FDC938F57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453" y="2065867"/>
            <a:ext cx="10131425" cy="3649133"/>
          </a:xfrm>
        </p:spPr>
        <p:txBody>
          <a:bodyPr/>
          <a:lstStyle/>
          <a:p>
            <a:r>
              <a:rPr lang="en-US" dirty="0"/>
              <a:t>Calculated total number of ratings and average rating for each book</a:t>
            </a:r>
          </a:p>
          <a:p>
            <a:r>
              <a:rPr lang="en-US" dirty="0"/>
              <a:t>Filtered books having minimum 50 ratings to ensure reliability</a:t>
            </a:r>
          </a:p>
          <a:p>
            <a:r>
              <a:rPr lang="en-US" dirty="0"/>
              <a:t>Ranked books based on high average rating + rating count</a:t>
            </a:r>
          </a:p>
          <a:p>
            <a:r>
              <a:rPr lang="en-US" dirty="0"/>
              <a:t>Recommended top N most popular books to users</a:t>
            </a:r>
          </a:p>
          <a:p>
            <a:r>
              <a:rPr lang="en-US" dirty="0"/>
              <a:t>Used this model to handle cold-start users (no user history)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7678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1B3ED-5ABA-C25D-1500-71E2EB2C6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Collaborative Filtering Recommender System (Item-Based &amp; User-Based)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3E8B1-BA86-DDB0-2D22-E07E9E4F6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Collaborative Filtering Recommender System (Item-Based &amp; User-Based)</a:t>
            </a:r>
          </a:p>
          <a:p>
            <a:r>
              <a:rPr lang="en-US" dirty="0"/>
              <a:t>Built a User–Item Matrix using a pivot table to represent user–book ratings</a:t>
            </a:r>
          </a:p>
          <a:p>
            <a:r>
              <a:rPr lang="en-US" dirty="0"/>
              <a:t>Handled sparse data by filling missing ratings with 0 and converting it into a CSR sparse matrix for memory efficiency</a:t>
            </a:r>
          </a:p>
          <a:p>
            <a:r>
              <a:rPr lang="en-US" dirty="0"/>
              <a:t>Item-Based Model: calculated book-to-book similarity using cosine similarity</a:t>
            </a:r>
          </a:p>
          <a:p>
            <a:r>
              <a:rPr lang="en-US" dirty="0"/>
              <a:t>Recommended books that are most similar to the selected book based on user rating patterns</a:t>
            </a:r>
          </a:p>
          <a:p>
            <a:r>
              <a:rPr lang="en-US" dirty="0"/>
              <a:t>User-Based Model: computed user-to-user similarity using cosine similarity on the transposed matrix</a:t>
            </a:r>
          </a:p>
          <a:p>
            <a:r>
              <a:rPr lang="en-US" dirty="0"/>
              <a:t>Recommended books liked by similar users, with a popularity fallback for users having very few ratings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4258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05FE3-CE00-F75A-8DDA-6B07FAE99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Cosine 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9452A-D299-B5DC-6EC1-E2A336987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cosine similarity to measure pattern similarity between users/books</a:t>
            </a:r>
          </a:p>
          <a:p>
            <a:r>
              <a:rPr lang="en-US" dirty="0"/>
              <a:t>Compared vectors based on rating </a:t>
            </a:r>
            <a:r>
              <a:rPr lang="en-US" dirty="0" err="1"/>
              <a:t>behaviour</a:t>
            </a:r>
            <a:r>
              <a:rPr lang="en-US" dirty="0"/>
              <a:t>, not rating values</a:t>
            </a:r>
          </a:p>
          <a:p>
            <a:r>
              <a:rPr lang="en-US" dirty="0"/>
              <a:t>Handled sparse data efficiently</a:t>
            </a:r>
          </a:p>
          <a:p>
            <a:r>
              <a:rPr lang="en-US" dirty="0"/>
              <a:t>Generated similarity scores between 0 and 1</a:t>
            </a:r>
          </a:p>
          <a:p>
            <a:r>
              <a:rPr lang="en-US" dirty="0"/>
              <a:t>Used similarity scores for both user-based and item-based models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9548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0EB1C-4DC6-D6CB-58AD-FA878C1C4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Hybrid Recommendation System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9701E-F7F5-5A14-0433-9AD022CCA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Combined item similarity scores with book popularity</a:t>
            </a:r>
          </a:p>
          <a:p>
            <a:r>
              <a:rPr lang="en-US" dirty="0"/>
              <a:t>Assigned higher weight to similarity and lower weight to rating</a:t>
            </a:r>
          </a:p>
          <a:p>
            <a:r>
              <a:rPr lang="en-US" dirty="0"/>
              <a:t>Filtered books with sufficient ratings for better accuracy</a:t>
            </a:r>
          </a:p>
          <a:p>
            <a:r>
              <a:rPr lang="en-US" dirty="0"/>
              <a:t>Ranked books using a final weighted score</a:t>
            </a:r>
          </a:p>
          <a:p>
            <a:r>
              <a:rPr lang="en-US" dirty="0"/>
              <a:t>Provided more stable and accurate recommendations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9579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DB64E-5673-0A4E-F8CD-073A23D52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Evaluation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1B184-09ED-ADA5-8389-842185543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Evaluated the model using </a:t>
            </a:r>
            <a:r>
              <a:rPr lang="en-US" b="1" dirty="0"/>
              <a:t>qualitative analysis</a:t>
            </a:r>
            <a:r>
              <a:rPr lang="en-US" dirty="0"/>
              <a:t> due to the unsupervised nature of the problem</a:t>
            </a:r>
          </a:p>
          <a:p>
            <a:r>
              <a:rPr lang="en-US" dirty="0"/>
              <a:t>Verified recommendations based on </a:t>
            </a:r>
            <a:r>
              <a:rPr lang="en-US" b="1" dirty="0"/>
              <a:t>relevance, similarity, and popularity</a:t>
            </a:r>
            <a:r>
              <a:rPr lang="en-US" dirty="0"/>
              <a:t> of books</a:t>
            </a:r>
          </a:p>
          <a:p>
            <a:r>
              <a:rPr lang="en-US" dirty="0"/>
              <a:t>Checked consistency of recommendations for different input books</a:t>
            </a:r>
          </a:p>
          <a:p>
            <a:r>
              <a:rPr lang="en-US" dirty="0"/>
              <a:t>Ensured the model produces </a:t>
            </a:r>
            <a:r>
              <a:rPr lang="en-US" b="1" dirty="0"/>
              <a:t>diverse yet relevant suggestions</a:t>
            </a:r>
            <a:endParaRPr lang="en-US" dirty="0"/>
          </a:p>
          <a:p>
            <a:r>
              <a:rPr lang="en-US" dirty="0"/>
              <a:t>Confirmed scalability and performance on large datasets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2877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74A2F-3CD0-585A-09E2-4931540DD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Deployment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CC755-D1AB-E985-CE71-90B0B7D0F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Deployed the recommendation system using </a:t>
            </a:r>
            <a:r>
              <a:rPr lang="en-US" b="1" dirty="0" err="1"/>
              <a:t>Streamlit</a:t>
            </a:r>
            <a:r>
              <a:rPr lang="en-US" dirty="0"/>
              <a:t> for interactive user experience</a:t>
            </a:r>
          </a:p>
          <a:p>
            <a:r>
              <a:rPr lang="en-US" dirty="0"/>
              <a:t>Serialized trained models and data objects using </a:t>
            </a:r>
            <a:r>
              <a:rPr lang="en-US" b="1" dirty="0"/>
              <a:t>Pickle</a:t>
            </a:r>
            <a:r>
              <a:rPr lang="en-US" dirty="0"/>
              <a:t> for reuse</a:t>
            </a:r>
          </a:p>
          <a:p>
            <a:r>
              <a:rPr lang="en-US" dirty="0"/>
              <a:t>Loaded pickled files (</a:t>
            </a:r>
            <a:r>
              <a:rPr lang="en-US" dirty="0" err="1"/>
              <a:t>popular.pkl</a:t>
            </a:r>
            <a:r>
              <a:rPr lang="en-US" dirty="0"/>
              <a:t>, </a:t>
            </a:r>
            <a:r>
              <a:rPr lang="en-US" dirty="0" err="1"/>
              <a:t>pt.pkl</a:t>
            </a:r>
            <a:r>
              <a:rPr lang="en-US" dirty="0"/>
              <a:t>, </a:t>
            </a:r>
            <a:r>
              <a:rPr lang="en-US" dirty="0" err="1"/>
              <a:t>books.pkl</a:t>
            </a:r>
            <a:r>
              <a:rPr lang="en-US" dirty="0"/>
              <a:t>, </a:t>
            </a:r>
            <a:r>
              <a:rPr lang="en-US" dirty="0" err="1"/>
              <a:t>similarity_scores.pkl</a:t>
            </a:r>
            <a:r>
              <a:rPr lang="en-US" dirty="0"/>
              <a:t>) in the app</a:t>
            </a:r>
          </a:p>
          <a:p>
            <a:r>
              <a:rPr lang="en-US" dirty="0"/>
              <a:t>Built a simple UI to accept book input and display recommendations</a:t>
            </a:r>
          </a:p>
          <a:p>
            <a:r>
              <a:rPr lang="en-US" dirty="0"/>
              <a:t>Enabled real-time book recommendations through a web </a:t>
            </a:r>
            <a:r>
              <a:rPr lang="en-US" dirty="0" err="1"/>
              <a:t>interfa</a:t>
            </a:r>
            <a:endParaRPr lang="en-US" dirty="0"/>
          </a:p>
          <a:p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067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ABCF9-F6B9-1861-D27B-24116F014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35CD1-B030-EC79-748B-0925854A6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498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64CF8-0189-4A82-5F90-05C5FB9CC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91092-AFE6-A059-917A-BB6109488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0617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947</TotalTime>
  <Words>835</Words>
  <Application>Microsoft Office PowerPoint</Application>
  <PresentationFormat>Widescreen</PresentationFormat>
  <Paragraphs>109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Red Hat Display</vt:lpstr>
      <vt:lpstr>Celestial</vt:lpstr>
      <vt:lpstr>Project Presentation </vt:lpstr>
      <vt:lpstr>Problem statement  </vt:lpstr>
      <vt:lpstr>Objectives</vt:lpstr>
      <vt:lpstr>Dataset Description</vt:lpstr>
      <vt:lpstr>Exploratory Data Analysis (EDA)</vt:lpstr>
      <vt:lpstr>PowerPoint Presentation</vt:lpstr>
      <vt:lpstr>Feature Engineering</vt:lpstr>
      <vt:lpstr>Model Selection</vt:lpstr>
      <vt:lpstr>Model Building </vt:lpstr>
      <vt:lpstr>Popularity Based Recommender System</vt:lpstr>
      <vt:lpstr>Collaborative Filtering Recommender System (Item-Based &amp; User-Based)</vt:lpstr>
      <vt:lpstr>Cosine Similarity</vt:lpstr>
      <vt:lpstr>Hybrid Recommendation System </vt:lpstr>
      <vt:lpstr>Model Evaluation </vt:lpstr>
      <vt:lpstr>Deployment 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Masodkar</dc:creator>
  <cp:lastModifiedBy>Shubham Masodkar</cp:lastModifiedBy>
  <cp:revision>10</cp:revision>
  <dcterms:created xsi:type="dcterms:W3CDTF">2025-12-20T12:54:54Z</dcterms:created>
  <dcterms:modified xsi:type="dcterms:W3CDTF">2025-12-22T14:49:19Z</dcterms:modified>
</cp:coreProperties>
</file>